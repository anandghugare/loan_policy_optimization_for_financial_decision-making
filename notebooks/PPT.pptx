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78" r:id="rId3"/>
    <p:sldId id="279" r:id="rId4"/>
    <p:sldId id="291" r:id="rId5"/>
    <p:sldId id="282" r:id="rId6"/>
    <p:sldId id="283" r:id="rId7"/>
    <p:sldId id="289" r:id="rId8"/>
    <p:sldId id="286" r:id="rId9"/>
    <p:sldId id="287" r:id="rId10"/>
    <p:sldId id="288" r:id="rId11"/>
    <p:sldId id="292" r:id="rId12"/>
    <p:sldId id="294" r:id="rId13"/>
    <p:sldId id="295" r:id="rId14"/>
    <p:sldId id="297" r:id="rId15"/>
    <p:sldId id="298" r:id="rId16"/>
    <p:sldId id="299" r:id="rId17"/>
    <p:sldId id="301" r:id="rId18"/>
    <p:sldId id="302" r:id="rId19"/>
    <p:sldId id="305" r:id="rId20"/>
    <p:sldId id="306" r:id="rId21"/>
    <p:sldId id="303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5"/>
    <p:restoredTop sz="94667"/>
  </p:normalViewPr>
  <p:slideViewPr>
    <p:cSldViewPr snapToGrid="0">
      <p:cViewPr varScale="1">
        <p:scale>
          <a:sx n="122" d="100"/>
          <a:sy n="122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9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1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0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6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5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8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F05FE-6F65-B443-95B2-968C120C513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7144D-DA78-D54E-BC73-A9782918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0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wordsforthewise/lending-club" TargetMode="Externa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53A4-ED21-CE33-1996-19F1DE17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1AFC-F7F9-BECB-A048-7C7492C9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1301"/>
            <a:ext cx="8532812" cy="112485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 Default Risk Modelling and Profit-Based Decision Analytics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4C936D-7196-8F95-695F-DC05A1E4FB6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057400"/>
            <a:ext cx="8736011" cy="38115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End-to-end Data Science project on consumer loan approvals.</a:t>
            </a:r>
          </a:p>
          <a:p>
            <a:pPr lvl="0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 on aligning machine learning predictions with business profitability.</a:t>
            </a:r>
          </a:p>
          <a:p>
            <a:pPr lvl="0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Dataset: LendingClub Accepted Loans (2007–2018).</a:t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Kaggle Link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4820A-0D26-66D0-8ABB-F82556059DF7}"/>
              </a:ext>
            </a:extLst>
          </p:cNvPr>
          <p:cNvCxnSpPr>
            <a:cxnSpLocks/>
          </p:cNvCxnSpPr>
          <p:nvPr/>
        </p:nvCxnSpPr>
        <p:spPr>
          <a:xfrm>
            <a:off x="839788" y="1533072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00D5D05-20F2-4CE8-4C56-531F104CC2CA}"/>
              </a:ext>
            </a:extLst>
          </p:cNvPr>
          <p:cNvSpPr txBox="1"/>
          <p:nvPr/>
        </p:nvSpPr>
        <p:spPr>
          <a:xfrm>
            <a:off x="7677614" y="5213416"/>
            <a:ext cx="338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Anand Ghugare</a:t>
            </a:r>
          </a:p>
          <a:p>
            <a:r>
              <a:rPr lang="en-US" dirty="0"/>
              <a:t>B.Tech CSE</a:t>
            </a:r>
          </a:p>
          <a:p>
            <a:r>
              <a:rPr lang="en-US" dirty="0"/>
              <a:t>Manipal University Jaipur</a:t>
            </a:r>
          </a:p>
        </p:txBody>
      </p:sp>
    </p:spTree>
    <p:extLst>
      <p:ext uri="{BB962C8B-B14F-4D97-AF65-F5344CB8AC3E}">
        <p14:creationId xmlns:p14="http://schemas.microsoft.com/office/powerpoint/2010/main" val="333948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2C8C-16BE-8171-DE92-AE0400FF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65EB-A4E2-2FB9-DA3E-A60790E6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57"/>
            <a:ext cx="92329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Context &amp; Problem Statement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16219D-FEAC-836A-0E1B-5973E5AC96D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548899"/>
            <a:ext cx="51816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Financial institutions approve or reject loans based on default risk.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Traditional ML models optimize prediction accuracy, not profit.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Poorly aligned decisions can cause large financial losses.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7253D-F59A-F3E4-6359-49ECB36C3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3331"/>
            <a:ext cx="5181600" cy="435133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b="1" u="sng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Objective: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u="sng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Predict loan default risk.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Convert predictions into </a:t>
            </a:r>
            <a:r>
              <a:rPr lang="en-US" altLang="en-US" sz="2000" b="1" dirty="0">
                <a:latin typeface="Arial" panose="020B0604020202020204" pitchFamily="34" charset="0"/>
              </a:rPr>
              <a:t>profit-aware approval decisions.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Which loans defaulted?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Which made money?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Can we do better than the past? How?</a:t>
            </a:r>
          </a:p>
          <a:p>
            <a:endParaRPr lang="en-US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CC0C65-FB10-29A1-78B7-62C6F612D4FE}"/>
              </a:ext>
            </a:extLst>
          </p:cNvPr>
          <p:cNvCxnSpPr>
            <a:cxnSpLocks/>
          </p:cNvCxnSpPr>
          <p:nvPr/>
        </p:nvCxnSpPr>
        <p:spPr>
          <a:xfrm>
            <a:off x="838200" y="1138917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58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21D6-E071-0EFA-B018-669434EA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3CEC-808F-46CA-1E3B-BFD86DD4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288" y="188377"/>
            <a:ext cx="3932237" cy="78739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5413EF-971B-7E56-E654-A2EDBA1E1B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1907041"/>
            <a:ext cx="10221912" cy="38115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Source: LendingClub accepted loan records (2007–2018)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Original Dataset 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- 2,260,701 rows (2.26 million)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- 151 features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Includes loan amount, interest rate, borrower income, repayment outcome, </a:t>
            </a:r>
            <a:r>
              <a:rPr lang="en-US" altLang="en-US" sz="2000" dirty="0" err="1">
                <a:latin typeface="Arial" panose="020B0604020202020204" pitchFamily="34" charset="0"/>
              </a:rPr>
              <a:t>dti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  employment tenure, home ownership, mortgage, annual income etc.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Each row represents one customer’s details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7A2952-7264-F61A-5E9D-5AD6C677D0A9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6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5068A-29C0-CD73-A171-2BC90278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EE3994-9703-13B9-7230-574FEB902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03DA1-E161-F48D-4905-D2C14F8E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B4F429-9ACB-0295-7B25-214DE09194D5}"/>
              </a:ext>
            </a:extLst>
          </p:cNvPr>
          <p:cNvCxnSpPr>
            <a:cxnSpLocks/>
          </p:cNvCxnSpPr>
          <p:nvPr/>
        </p:nvCxnSpPr>
        <p:spPr>
          <a:xfrm>
            <a:off x="600133" y="3206863"/>
            <a:ext cx="1099173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7F44E9E-2E22-B133-80F7-5C883616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10" y="480061"/>
            <a:ext cx="10197884" cy="266481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FAB2CE-D2A5-ACB1-1255-EA6143F1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10" y="3325822"/>
            <a:ext cx="10197884" cy="305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1337-E8AF-5345-AE69-DB4275B2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3D88-34BB-1854-D68F-8F68DCBA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342111"/>
            <a:ext cx="8149590" cy="78739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Cleaning, Target Definition &amp; Feature Selection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0B3A29-2E89-0262-3261-6F9740ABD56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1907041"/>
            <a:ext cx="4395152" cy="38115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Selected only loans with final outcomes: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Fully Paid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Charged Off / Default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Created binary target variable: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- 0 → Fully Paid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- 1 → Default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Ensured clean labels for supervised learning</a:t>
            </a:r>
          </a:p>
          <a:p>
            <a:pPr lvl="0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63292C-9B54-A927-FE25-7D6255864321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3E5664A-43FA-8817-B245-DE8CE8EA8990}"/>
              </a:ext>
            </a:extLst>
          </p:cNvPr>
          <p:cNvSpPr txBox="1"/>
          <p:nvPr/>
        </p:nvSpPr>
        <p:spPr>
          <a:xfrm>
            <a:off x="5772150" y="1907041"/>
            <a:ext cx="58750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Selected a small, interpretable feature 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loan_amnt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int_rate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annual_inc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dti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Simple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Easy to explain to business 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Strong baseline for modelling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u="sng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usable dataset: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1,344,976 rows (1.34 million)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4 features + 1 target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2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C1AB-9361-1B83-59AF-EA269AD7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C8BB-28F2-F85F-A852-1BAB6B35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7" y="241978"/>
            <a:ext cx="8149590" cy="78739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Train-Test Split Strategy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EE4565-A0D4-DCE2-1957-44F31C6E4F3D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690EE-26B9-7615-D2F7-BAF5B598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23206"/>
            <a:ext cx="8736012" cy="3811588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Why is a split required anyway?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Split data into: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80% training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20% testing</a:t>
            </a:r>
          </a:p>
          <a:p>
            <a:pPr lvl="1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Stratified split to preserve default rate distribution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Ensures fair and unbiased evaluation</a:t>
            </a:r>
          </a:p>
        </p:txBody>
      </p:sp>
    </p:spTree>
    <p:extLst>
      <p:ext uri="{BB962C8B-B14F-4D97-AF65-F5344CB8AC3E}">
        <p14:creationId xmlns:p14="http://schemas.microsoft.com/office/powerpoint/2010/main" val="65360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5726E-E4D6-91F1-EBA2-E46AEE73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FDD6399-4925-B1AE-DFBA-9D1D1843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33ECC8-D85B-B6CC-2A20-5E11CFD44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EB27E-38A8-D986-57F7-8B75AC03F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11115720" cy="589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7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0727-CF3E-A91E-75B3-68A46708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D564-FE00-A5A0-8A3E-DF1A1DF4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6" y="241978"/>
            <a:ext cx="8519604" cy="78739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Learning Model &amp; Eval Metrics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70A89D-9A63-9D09-CAF6-6F9C408BA8C0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893A9C-65A3-9887-C0D5-0B1FB140DEEB}"/>
              </a:ext>
            </a:extLst>
          </p:cNvPr>
          <p:cNvSpPr txBox="1"/>
          <p:nvPr/>
        </p:nvSpPr>
        <p:spPr>
          <a:xfrm>
            <a:off x="5963964" y="1572321"/>
            <a:ext cx="464661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ROC - AUC: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Measures ranking ability of default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Is it ranking default as default or not?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F1 - score: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It checks if we predicted correct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w.r.t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reality.</a:t>
            </a:r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348B01-47FE-2E77-87B6-C196AC8E6600}"/>
              </a:ext>
            </a:extLst>
          </p:cNvPr>
          <p:cNvSpPr txBox="1"/>
          <p:nvPr/>
        </p:nvSpPr>
        <p:spPr>
          <a:xfrm>
            <a:off x="839787" y="1572320"/>
            <a:ext cx="49699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choice: </a:t>
            </a:r>
          </a:p>
          <a:p>
            <a:pPr lvl="0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Logistic Regression with feature scaling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Reason for choice: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Binary classification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Industry-standard baseline in credit risk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Produces probabilities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8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4E63-63A7-D7AC-06E2-CB938D5A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9DD1-6288-5DB2-0385-26BDB55E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006" y="15693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Learning from Supervised ML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450D3-4DAC-B618-6086-D633E820A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12180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  <a:p>
            <a:r>
              <a:rPr lang="en-IN" sz="2000" b="1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AUC ≈ 0.69</a:t>
            </a:r>
          </a:p>
          <a:p>
            <a:r>
              <a:rPr lang="en-IN" sz="2000" b="1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F1 ≈ 0.11</a:t>
            </a:r>
          </a:p>
          <a:p>
            <a:endParaRPr lang="en-IN" sz="2000" b="1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Model separates risk reasonably 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Classification performance alone is not sufficient for business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10E0B-93CE-AB3E-BA0D-0A6A3B64E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2121808"/>
            <a:ext cx="3896833" cy="435133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High AUC does </a:t>
            </a:r>
            <a:r>
              <a:rPr lang="en-US" altLang="en-US" sz="2000" b="1" dirty="0">
                <a:latin typeface="Arial" panose="020B0604020202020204" pitchFamily="34" charset="0"/>
              </a:rPr>
              <a:t>not</a:t>
            </a:r>
            <a:r>
              <a:rPr lang="en-US" altLang="en-US" sz="2000" dirty="0">
                <a:latin typeface="Arial" panose="020B0604020202020204" pitchFamily="34" charset="0"/>
              </a:rPr>
              <a:t> guarantee profitable decisions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Approving low-risk but high-loss loans can be dangerous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Prediction ≠ decision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Business objective must drive model usage</a:t>
            </a:r>
          </a:p>
          <a:p>
            <a:endParaRPr lang="en-US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C3DF3F-FDF3-A416-C2B0-F50DA0002D51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1F5366-FE9E-86F0-4857-D60FA4E63AAB}"/>
              </a:ext>
            </a:extLst>
          </p:cNvPr>
          <p:cNvSpPr txBox="1"/>
          <p:nvPr/>
        </p:nvSpPr>
        <p:spPr>
          <a:xfrm>
            <a:off x="1263721" y="1345915"/>
            <a:ext cx="7705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: Is the model good enough?</a:t>
            </a:r>
          </a:p>
        </p:txBody>
      </p:sp>
    </p:spTree>
    <p:extLst>
      <p:ext uri="{BB962C8B-B14F-4D97-AF65-F5344CB8AC3E}">
        <p14:creationId xmlns:p14="http://schemas.microsoft.com/office/powerpoint/2010/main" val="75180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E50908-A83A-8166-E0E7-5127EAFC2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11090874" cy="57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48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4936-AF33-C701-5C46-AF699C24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B3D6-EA9B-20EE-DAEB-1FB391C9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 Engineering (Business Value Layer)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1FFA9-FD49-AEEB-F16A-F78E8B557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121807"/>
            <a:ext cx="8736012" cy="405515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Defined financial reward per loan: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If Fully Paid: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Profit = loan amount × interest rate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If Default: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Loss = - full loan principal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Created a reward column representing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actual monetary outcome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This converts prediction into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impact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1BC764-6624-7886-A480-68CF5BC292C2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66B3755-40C0-B636-EC1D-2464CA7C6CE1}"/>
              </a:ext>
            </a:extLst>
          </p:cNvPr>
          <p:cNvSpPr txBox="1"/>
          <p:nvPr/>
        </p:nvSpPr>
        <p:spPr>
          <a:xfrm>
            <a:off x="839788" y="1408927"/>
            <a:ext cx="8736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Past : How much did we lose and gain?</a:t>
            </a:r>
          </a:p>
        </p:txBody>
      </p:sp>
    </p:spTree>
    <p:extLst>
      <p:ext uri="{BB962C8B-B14F-4D97-AF65-F5344CB8AC3E}">
        <p14:creationId xmlns:p14="http://schemas.microsoft.com/office/powerpoint/2010/main" val="422809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F71C1-EC3F-2CEE-D7AF-E1C72607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0A03C7-8B3C-E544-F6C0-686818745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172569-E42B-A4C2-DCC9-8A6841F72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0A77835-07E1-C63B-A1F7-4556C2AB2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59"/>
            <a:ext cx="11237976" cy="589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92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480F-7A9B-E939-903C-679B9EFE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793A-6006-D866-72C8-20F5B10F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 Default Probability (p_default)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423E-6C0F-90D5-7C40-7B9CD6CAD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3719" y="2121807"/>
            <a:ext cx="4543584" cy="3806376"/>
          </a:xfrm>
        </p:spPr>
        <p:txBody>
          <a:bodyPr>
            <a:normAutofit/>
          </a:bodyPr>
          <a:lstStyle/>
          <a:p>
            <a:r>
              <a:rPr lang="en-IN" sz="2000" dirty="0"/>
              <a:t>Expected Profit =</a:t>
            </a:r>
            <a:br>
              <a:rPr lang="en-IN" sz="2000" dirty="0"/>
            </a:br>
            <a:r>
              <a:rPr lang="en-IN" sz="2000" dirty="0"/>
              <a:t>Loan × Interest × (1 − p_default) − Loan × p_default</a:t>
            </a:r>
          </a:p>
          <a:p>
            <a:endParaRPr lang="en-IN" sz="2000" dirty="0"/>
          </a:p>
          <a:p>
            <a:pPr>
              <a:buFont typeface="Wingdings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 Policy Creation :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  Approve loan only if expected profit &gt; 0</a:t>
            </a:r>
            <a:br>
              <a:rPr lang="en-IN" sz="2000" dirty="0"/>
            </a:br>
            <a:r>
              <a:rPr lang="en-IN" sz="2000" dirty="0"/>
              <a:t>  Otherwise reject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This creates a </a:t>
            </a:r>
            <a:r>
              <a:rPr lang="en-IN" sz="2000" b="1" dirty="0"/>
              <a:t>profit-aligned baseline policy</a:t>
            </a:r>
            <a:endParaRPr lang="en-IN" sz="2000" dirty="0"/>
          </a:p>
          <a:p>
            <a:endParaRPr lang="en-IN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BF331-597B-FC7F-FA58-BB36718942C0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C52E42-71F0-A2D3-D903-7B1E576CA62C}"/>
              </a:ext>
            </a:extLst>
          </p:cNvPr>
          <p:cNvSpPr txBox="1"/>
          <p:nvPr/>
        </p:nvSpPr>
        <p:spPr>
          <a:xfrm>
            <a:off x="839788" y="1347281"/>
            <a:ext cx="8736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 were the Bank || Net profit-loss for each loan before approval.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D90CC6-F7F4-0F70-9CCA-8E9A51582F92}"/>
              </a:ext>
            </a:extLst>
          </p:cNvPr>
          <p:cNvSpPr txBox="1">
            <a:spLocks/>
          </p:cNvSpPr>
          <p:nvPr/>
        </p:nvSpPr>
        <p:spPr>
          <a:xfrm>
            <a:off x="839788" y="2121807"/>
            <a:ext cx="4102081" cy="380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/>
              <a:t>Used trained ML model to predict probability of default for each loan</a:t>
            </a:r>
            <a:br>
              <a:rPr lang="en-IN" sz="2000"/>
            </a:br>
            <a:endParaRPr lang="en-IN" sz="2000"/>
          </a:p>
          <a:p>
            <a:r>
              <a:rPr lang="en-IN" sz="2000"/>
              <a:t>p_default ∈ [0,1]</a:t>
            </a:r>
            <a:br>
              <a:rPr lang="en-IN" sz="2000"/>
            </a:br>
            <a:endParaRPr lang="en-IN" sz="2000"/>
          </a:p>
          <a:p>
            <a:r>
              <a:rPr lang="en-IN" sz="2000"/>
              <a:t>Interpreted as model’s confidence that a borrower will default</a:t>
            </a:r>
            <a:br>
              <a:rPr lang="en-IN" sz="2000"/>
            </a:br>
            <a:endParaRPr lang="en-IN" sz="2000"/>
          </a:p>
          <a:p>
            <a:r>
              <a:rPr lang="en-IN" sz="2000"/>
              <a:t>This probability becomes the </a:t>
            </a:r>
            <a:r>
              <a:rPr lang="en-IN" sz="2000" b="1"/>
              <a:t>input for decision policies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07297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41F11-7408-DF66-D08E-A51ED132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17FA9B-5F98-F438-16B1-CBA5A3038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D3D84-FD36-BE3D-00E5-8CAEFA6AB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D42A35-0148-C6EE-8AAD-04F0D923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11237976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1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01FE-7C98-8667-A840-84405229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49A7-C2FB-AEC5-9B89-CA402C5A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 Policy Results &amp; Evaluation?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CA3FA0-9959-6EE7-EA66-23C49D2CEE62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D6ED00-476B-9648-43AD-3B93D5860BF6}"/>
              </a:ext>
            </a:extLst>
          </p:cNvPr>
          <p:cNvSpPr txBox="1">
            <a:spLocks/>
          </p:cNvSpPr>
          <p:nvPr/>
        </p:nvSpPr>
        <p:spPr>
          <a:xfrm>
            <a:off x="839788" y="1546203"/>
            <a:ext cx="4390134" cy="3806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Approval rate ≈ 1.7%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Every 2 out of 100 will be approved.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Average expected profit per applicant ≈ ₹6.6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Very selective approvals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Strong risk control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Significantly safer than ML threshold rule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B9CF25-FFB5-B2DC-59F9-07B3EC3FC32C}"/>
              </a:ext>
            </a:extLst>
          </p:cNvPr>
          <p:cNvSpPr txBox="1">
            <a:spLocks/>
          </p:cNvSpPr>
          <p:nvPr/>
        </p:nvSpPr>
        <p:spPr>
          <a:xfrm>
            <a:off x="5809515" y="1525809"/>
            <a:ext cx="4516514" cy="3806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Why Evaluation?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We need to evaluate the profit-based policy because creating a rule is not the same as knowing whether it actually works well across the entire dataset.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rule can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sound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logical and still be bad at large scale.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How?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Offline Policy Evaluation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Direct Method</a:t>
            </a:r>
          </a:p>
          <a:p>
            <a:pPr>
              <a:buFont typeface="Wingdings" pitchFamily="2" charset="2"/>
              <a:buChar char="v"/>
            </a:pP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415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3D87-96F3-D24C-B639-7531D9D2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1969-B46C-F76D-A85B-E0B76F05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 Policy Evaluation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D7D4F3-6340-6098-FDFF-B4DF289A01E3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F9C5FB-AD50-4CD2-FBA6-6ED1224F9726}"/>
              </a:ext>
            </a:extLst>
          </p:cNvPr>
          <p:cNvSpPr txBox="1">
            <a:spLocks/>
          </p:cNvSpPr>
          <p:nvPr/>
        </p:nvSpPr>
        <p:spPr>
          <a:xfrm>
            <a:off x="839788" y="1546203"/>
            <a:ext cx="4390134" cy="380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Train a reward model for all X (features) and target (reward)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Predict all profit and loss (reward) with this model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Mean() for both :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- Supervised ML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- Profit Policy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582E83-1BDD-FAC7-F7C9-7E548700FB62}"/>
              </a:ext>
            </a:extLst>
          </p:cNvPr>
          <p:cNvSpPr txBox="1">
            <a:spLocks/>
          </p:cNvSpPr>
          <p:nvPr/>
        </p:nvSpPr>
        <p:spPr>
          <a:xfrm>
            <a:off x="5809515" y="1525809"/>
            <a:ext cx="3992407" cy="3806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Estimate “what would have happened” if a policy was applied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No real money at risk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Model used:</a:t>
            </a:r>
            <a:br>
              <a:rPr lang="en-IN" sz="2000" dirty="0"/>
            </a:br>
            <a:r>
              <a:rPr lang="en-IN" sz="2000" dirty="0"/>
              <a:t>Random Forest Regressor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Purpose:</a:t>
            </a:r>
            <a:br>
              <a:rPr lang="en-IN" sz="2000" dirty="0"/>
            </a:br>
            <a:r>
              <a:rPr lang="en-IN" sz="2000" dirty="0"/>
              <a:t>Learn relationship between loan features and monetary outcome</a:t>
            </a:r>
          </a:p>
          <a:p>
            <a:endParaRPr lang="en-IN" sz="2000" dirty="0"/>
          </a:p>
          <a:p>
            <a:pPr marL="0" indent="0">
              <a:buNone/>
            </a:pP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5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64D2A-6029-D765-1D10-D7314189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BD7E15D-4C3E-76A3-0EB1-4AC8EC4D8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BEE79-B401-45D4-BA2B-5374D2672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CC43F2-F7CA-5EE1-4DDE-7F27942B7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11237976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00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A7B1-F5A6-EBEF-A72B-4F06A9CF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FB37-20EB-9EAC-C218-0C0A9045B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 Policy Evaluation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E954B7-F392-3504-42E4-86390B71F078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841C8B-5E90-A496-8ACF-EF17CEAE4C70}"/>
              </a:ext>
            </a:extLst>
          </p:cNvPr>
          <p:cNvSpPr txBox="1">
            <a:spLocks/>
          </p:cNvSpPr>
          <p:nvPr/>
        </p:nvSpPr>
        <p:spPr>
          <a:xfrm>
            <a:off x="1143794" y="3538780"/>
            <a:ext cx="8127999" cy="14012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01F7DC-7475-E4A3-F185-116DCF8C5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79058"/>
              </p:ext>
            </p:extLst>
          </p:nvPr>
        </p:nvGraphicFramePr>
        <p:xfrm>
          <a:off x="1143795" y="1527447"/>
          <a:ext cx="8127998" cy="118872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67393">
                  <a:extLst>
                    <a:ext uri="{9D8B030D-6E8A-4147-A177-3AD203B41FA5}">
                      <a16:colId xmlns:a16="http://schemas.microsoft.com/office/drawing/2014/main" val="3920366277"/>
                    </a:ext>
                  </a:extLst>
                </a:gridCol>
                <a:gridCol w="2960813">
                  <a:extLst>
                    <a:ext uri="{9D8B030D-6E8A-4147-A177-3AD203B41FA5}">
                      <a16:colId xmlns:a16="http://schemas.microsoft.com/office/drawing/2014/main" val="2765207101"/>
                    </a:ext>
                  </a:extLst>
                </a:gridCol>
                <a:gridCol w="2899792">
                  <a:extLst>
                    <a:ext uri="{9D8B030D-6E8A-4147-A177-3AD203B41FA5}">
                      <a16:colId xmlns:a16="http://schemas.microsoft.com/office/drawing/2014/main" val="3374248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E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E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E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5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p_default &lt; 0.5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−1460 per applicant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22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Profit Rule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expected profit &gt;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 per applicant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7623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1F952F-585A-F097-1E46-AC8A76CCAB02}"/>
              </a:ext>
            </a:extLst>
          </p:cNvPr>
          <p:cNvSpPr txBox="1"/>
          <p:nvPr/>
        </p:nvSpPr>
        <p:spPr>
          <a:xfrm>
            <a:off x="1120871" y="3319220"/>
            <a:ext cx="40869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Loan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Loan amount = ₹40,000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Interest rate = 10%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p_default = 0.4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ML decision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0.4 &lt; 0.5 →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2BD5A-675D-6F85-F25B-5AEE882F7028}"/>
              </a:ext>
            </a:extLst>
          </p:cNvPr>
          <p:cNvSpPr txBox="1"/>
          <p:nvPr/>
        </p:nvSpPr>
        <p:spPr>
          <a:xfrm>
            <a:off x="5765354" y="3319220"/>
            <a:ext cx="461643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Expected profit 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(0.6 × ₹4,000) − (0.4 × ₹40,000)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₹2,400 − ₹16,000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−₹13,600</a:t>
            </a:r>
          </a:p>
          <a:p>
            <a:pPr lvl="1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 policy decision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Negative profit →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1990-06AF-3873-D496-94119AAB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A32D-4382-1FAD-53DF-6D19CC55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for disagreements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068F40-DF51-06DE-E326-A43E41503672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84CE8E-D32E-5FE2-484E-B20889436EAE}"/>
              </a:ext>
            </a:extLst>
          </p:cNvPr>
          <p:cNvSpPr txBox="1"/>
          <p:nvPr/>
        </p:nvSpPr>
        <p:spPr>
          <a:xfrm>
            <a:off x="1137424" y="1382286"/>
            <a:ext cx="84383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Compared decisions made by: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Supervised ML rule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Profit-based rule</a:t>
            </a:r>
          </a:p>
          <a:p>
            <a:pPr lvl="1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Over 1.28 million cases where decisions differ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ML approves large, risky loans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Profit policy rejects them due to downside risk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Accuracy-driven decisions can be financially harmful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Profit-aware policy dramatically reduces loss</a:t>
            </a:r>
          </a:p>
        </p:txBody>
      </p:sp>
    </p:spTree>
    <p:extLst>
      <p:ext uri="{BB962C8B-B14F-4D97-AF65-F5344CB8AC3E}">
        <p14:creationId xmlns:p14="http://schemas.microsoft.com/office/powerpoint/2010/main" val="2627520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4C5A5-F190-354F-C42A-4B95C219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A829A8-E13A-530D-9C44-462E2E14F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A67E07-13E2-A36D-68CE-BE40DE348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859B6A-0611-F040-AE4E-B15767A0A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11237976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21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D1B1-D400-EE66-7EFD-7091CF80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72B997-3D63-8D63-399A-D8D2784BBF8F}"/>
              </a:ext>
            </a:extLst>
          </p:cNvPr>
          <p:cNvCxnSpPr>
            <a:cxnSpLocks/>
          </p:cNvCxnSpPr>
          <p:nvPr/>
        </p:nvCxnSpPr>
        <p:spPr>
          <a:xfrm>
            <a:off x="839788" y="1139371"/>
            <a:ext cx="87360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05B129-1518-3922-2864-38009102E630}"/>
              </a:ext>
            </a:extLst>
          </p:cNvPr>
          <p:cNvSpPr txBox="1"/>
          <p:nvPr/>
        </p:nvSpPr>
        <p:spPr>
          <a:xfrm>
            <a:off x="839788" y="1490689"/>
            <a:ext cx="765744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Predictive accuracy alone is not enough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Decisions must be aligned with business objectives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Policy evaluation is critical before deployment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Combines data science with business reasoning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Focuses on decision impact and profitability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Uses structured, consulting-style problem solving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Directly applicable to real word problems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D4B241-6BEC-E385-A2C4-06A7BFCB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0226"/>
            <a:ext cx="8736012" cy="98243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08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71DE5E-7EA0-4589-58A3-76F62F804EF0}"/>
              </a:ext>
            </a:extLst>
          </p:cNvPr>
          <p:cNvSpPr txBox="1"/>
          <p:nvPr/>
        </p:nvSpPr>
        <p:spPr>
          <a:xfrm>
            <a:off x="3565634" y="2474893"/>
            <a:ext cx="50607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being patient!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Please?</a:t>
            </a:r>
          </a:p>
        </p:txBody>
      </p:sp>
    </p:spTree>
    <p:extLst>
      <p:ext uri="{BB962C8B-B14F-4D97-AF65-F5344CB8AC3E}">
        <p14:creationId xmlns:p14="http://schemas.microsoft.com/office/powerpoint/2010/main" val="364116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</TotalTime>
  <Words>980</Words>
  <Application>Microsoft Macintosh PowerPoint</Application>
  <PresentationFormat>Widescreen</PresentationFormat>
  <Paragraphs>200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 Theme</vt:lpstr>
      <vt:lpstr>Loan Default Risk Modelling and Profit-Based Decision Analytics</vt:lpstr>
      <vt:lpstr>Business Context &amp; Problem Statement</vt:lpstr>
      <vt:lpstr>Dataset Overview</vt:lpstr>
      <vt:lpstr>PowerPoint Presentation</vt:lpstr>
      <vt:lpstr>Data Cleaning, Target Definition &amp; Feature Selection</vt:lpstr>
      <vt:lpstr>Train-Test Split Strategy</vt:lpstr>
      <vt:lpstr>PowerPoint Presentation</vt:lpstr>
      <vt:lpstr>Supervised Learning Model &amp; Eval Metrics</vt:lpstr>
      <vt:lpstr>Results &amp; Learning from Supervised ML</vt:lpstr>
      <vt:lpstr>PowerPoint Presentation</vt:lpstr>
      <vt:lpstr>Reward Engineering (Business Value Layer)</vt:lpstr>
      <vt:lpstr>PowerPoint Presentation</vt:lpstr>
      <vt:lpstr>Predicting Default Probability (p_default)</vt:lpstr>
      <vt:lpstr>PowerPoint Presentation</vt:lpstr>
      <vt:lpstr>Profit Policy Results &amp; Evaluation?</vt:lpstr>
      <vt:lpstr>Profit Policy Evaluation</vt:lpstr>
      <vt:lpstr>PowerPoint Presentation</vt:lpstr>
      <vt:lpstr>Profit Policy Evaluation</vt:lpstr>
      <vt:lpstr>Comparison for disagreements</vt:lpstr>
      <vt:lpstr>PowerPoint Presentation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Mallinath Ghugare [CSE (IOT AND INTELLIGENT SYSTEM) - 2022]</dc:creator>
  <cp:lastModifiedBy>Anand Mallinath Ghugare [CSE (IOT AND INTELLIGENT SYSTEM) - 2022]</cp:lastModifiedBy>
  <cp:revision>12</cp:revision>
  <dcterms:created xsi:type="dcterms:W3CDTF">2026-01-06T14:35:26Z</dcterms:created>
  <dcterms:modified xsi:type="dcterms:W3CDTF">2026-01-07T17:49:53Z</dcterms:modified>
</cp:coreProperties>
</file>